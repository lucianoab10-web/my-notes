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1" r:id="rId6"/>
    <p:sldId id="268" r:id="rId7"/>
    <p:sldId id="269" r:id="rId8"/>
    <p:sldId id="271" r:id="rId9"/>
    <p:sldId id="270" r:id="rId10"/>
    <p:sldId id="260" r:id="rId11"/>
    <p:sldId id="262" r:id="rId12"/>
    <p:sldId id="263" r:id="rId13"/>
    <p:sldId id="265" r:id="rId14"/>
    <p:sldId id="266" r:id="rId15"/>
    <p:sldId id="267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32" autoAdjust="0"/>
    <p:restoredTop sz="94618" autoAdjust="0"/>
  </p:normalViewPr>
  <p:slideViewPr>
    <p:cSldViewPr>
      <p:cViewPr varScale="1">
        <p:scale>
          <a:sx n="85" d="100"/>
          <a:sy n="85" d="100"/>
        </p:scale>
        <p:origin x="159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55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5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5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23CF27D-F350-4626-911D-7E1200FCA37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693BEB-E858-454A-A1CA-7B639CA03AC7}" type="slidenum">
              <a:rPr lang="en-US"/>
              <a:pPr/>
              <a:t>1</a:t>
            </a:fld>
            <a:endParaRPr 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4FD57BD-481D-4874-B6A7-DCA55CFFC8B1}" type="slidenum">
              <a:rPr lang="en-US"/>
              <a:pPr/>
              <a:t>2</a:t>
            </a:fld>
            <a:endParaRPr lang="en-US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A724644-EBC2-4D22-8189-2C353319EA4B}" type="slidenum">
              <a:rPr lang="en-US"/>
              <a:pPr/>
              <a:t>3</a:t>
            </a:fld>
            <a:endParaRPr 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1050" y="2708275"/>
            <a:ext cx="5327650" cy="75088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1050" y="3429000"/>
            <a:ext cx="5327650" cy="503238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noProof="0"/>
              <a:t>Haga clic para modificar el estilo de subtítulo del patrón</a:t>
            </a:r>
            <a:endParaRPr lang="ru-RU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68313" y="1989138"/>
            <a:ext cx="3198812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19525" y="1989138"/>
            <a:ext cx="3200400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5383213" y="1412875"/>
            <a:ext cx="1636712" cy="504031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68313" y="1412875"/>
            <a:ext cx="4762500" cy="504031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412875"/>
            <a:ext cx="60483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6551612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11413" y="2997200"/>
            <a:ext cx="4211637" cy="575816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Mineralogía</a:t>
            </a:r>
            <a:r>
              <a:rPr lang="en-US" dirty="0"/>
              <a:t> y </a:t>
            </a:r>
            <a:r>
              <a:rPr lang="en-US" dirty="0" err="1"/>
              <a:t>Cristalografía</a:t>
            </a:r>
            <a:br>
              <a:rPr lang="en-US" dirty="0"/>
            </a:br>
            <a:r>
              <a:rPr lang="en-US" sz="2400" dirty="0"/>
              <a:t>MF – SL – FM – RM - SV 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268413"/>
            <a:ext cx="6480175" cy="620712"/>
          </a:xfrm>
        </p:spPr>
        <p:txBody>
          <a:bodyPr/>
          <a:lstStyle/>
          <a:p>
            <a:pPr eaLnBrk="1" hangingPunct="1"/>
            <a:r>
              <a:rPr lang="en-US" sz="3600" b="1" dirty="0"/>
              <a:t>Red </a:t>
            </a:r>
            <a:r>
              <a:rPr lang="en-US" sz="3600" b="1" dirty="0" err="1"/>
              <a:t>cristalina</a:t>
            </a:r>
            <a:endParaRPr lang="uk-UA" sz="3600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989138"/>
            <a:ext cx="3384179" cy="3600449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Red tridimensional de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nodos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, que se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repiten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periódicamente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estructura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cristalina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endParaRPr lang="uk-UA" sz="2000" dirty="0">
              <a:latin typeface="+mj-lt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204C36F6-BECA-A7AC-9F94-F194F40524C0}"/>
              </a:ext>
            </a:extLst>
          </p:cNvPr>
          <p:cNvSpPr/>
          <p:nvPr/>
        </p:nvSpPr>
        <p:spPr>
          <a:xfrm>
            <a:off x="4572000" y="2104965"/>
            <a:ext cx="3168352" cy="3150697"/>
          </a:xfrm>
          <a:custGeom>
            <a:avLst/>
            <a:gdLst/>
            <a:ahLst/>
            <a:cxnLst/>
            <a:rect l="l" t="t" r="r" b="b"/>
            <a:pathLst>
              <a:path w="7937267" h="7477135">
                <a:moveTo>
                  <a:pt x="0" y="0"/>
                </a:moveTo>
                <a:lnTo>
                  <a:pt x="7937267" y="0"/>
                </a:lnTo>
                <a:lnTo>
                  <a:pt x="7937267" y="7477135"/>
                </a:lnTo>
                <a:lnTo>
                  <a:pt x="0" y="7477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117475"/>
            <a:ext cx="7056438" cy="719138"/>
          </a:xfrm>
        </p:spPr>
        <p:txBody>
          <a:bodyPr/>
          <a:lstStyle/>
          <a:p>
            <a:pPr eaLnBrk="1" hangingPunct="1"/>
            <a:r>
              <a:rPr lang="en-US" b="1" dirty="0"/>
              <a:t>Red </a:t>
            </a:r>
            <a:r>
              <a:rPr lang="en-US" b="1" dirty="0" err="1"/>
              <a:t>cristalina</a:t>
            </a:r>
            <a:endParaRPr lang="en-U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3C49F0-CF85-8FDD-D7BA-AACF7283A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1700808"/>
            <a:ext cx="6588224" cy="31496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BF6283-B82B-B563-664F-3AC61CF4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3" y="1772816"/>
            <a:ext cx="8703514" cy="410445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3AA5FCA-749C-5F17-D3A9-BE31E3182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1268760"/>
            <a:ext cx="7056438" cy="719138"/>
          </a:xfrm>
        </p:spPr>
        <p:txBody>
          <a:bodyPr/>
          <a:lstStyle/>
          <a:p>
            <a:pPr eaLnBrk="1" hangingPunct="1"/>
            <a:r>
              <a:rPr lang="en-US" b="1" dirty="0" err="1"/>
              <a:t>Traslación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0246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ED04-598F-5E1E-8969-0EEDABE6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ED155364-1BD5-92CC-6ED6-9080529D9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1268760"/>
            <a:ext cx="7056438" cy="719138"/>
          </a:xfrm>
        </p:spPr>
        <p:txBody>
          <a:bodyPr/>
          <a:lstStyle/>
          <a:p>
            <a:pPr eaLnBrk="1" hangingPunct="1"/>
            <a:r>
              <a:rPr lang="en-US" b="1" dirty="0" err="1"/>
              <a:t>Traslación</a:t>
            </a:r>
            <a:endParaRPr lang="en-US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3C9A58-7AF2-1632-10FA-485EA5C8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6762"/>
            <a:ext cx="9144000" cy="42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0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C3E0F-C7D0-1364-6E9C-87B0116A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82DBD97-2C96-ADEC-9C56-7102E331E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b="1"/>
              <a:t>Traslación</a:t>
            </a:r>
          </a:p>
        </p:txBody>
      </p:sp>
      <p:pic>
        <p:nvPicPr>
          <p:cNvPr id="2" name="Shape 65" descr="Gráfico&#10;&#10;El contenido generado por IA puede ser incorrecto.">
            <a:extLst>
              <a:ext uri="{FF2B5EF4-FFF2-40B4-BE49-F238E27FC236}">
                <a16:creationId xmlns:a16="http://schemas.microsoft.com/office/drawing/2014/main" id="{D3EC38EC-F464-098D-AAB7-68674834EB1E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2070228"/>
            <a:ext cx="6551612" cy="4301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92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02534-B457-C634-D781-9529271F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A6A8ED7-01E2-F8D1-A6D4-5819D673B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b="1"/>
              <a:t>Traslación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13F2DC-20FE-30C4-BE4A-78E43824A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2730671"/>
            <a:ext cx="7704087" cy="3505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016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9F75-A8F4-3085-A28F-727C9108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CC7195D-D13F-BD64-7359-CD9A0737E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b="1"/>
              <a:t>Traslación</a:t>
            </a:r>
          </a:p>
        </p:txBody>
      </p:sp>
      <p:pic>
        <p:nvPicPr>
          <p:cNvPr id="3" name="Imagen 2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56CE1D8E-B222-77CF-3DDF-766BA47A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141026"/>
            <a:ext cx="6551612" cy="41602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105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9BAE-34C5-214E-973B-820093B6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54D1200-2DC4-A1EB-D4B3-1A3BFF7BF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b="1"/>
              <a:t>Traslación</a:t>
            </a: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DBADA67-CB7E-77F7-87AD-2E85112F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370333"/>
            <a:ext cx="6551612" cy="37016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806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78271-D12A-5016-0277-248485C7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Redes planas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418EA-5AE4-E966-2746-5B9F3DF4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8280151" cy="2606744"/>
          </a:xfrm>
        </p:spPr>
        <p:txBody>
          <a:bodyPr/>
          <a:lstStyle/>
          <a:p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Existen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cinco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dirty="0">
                <a:latin typeface="Open Sans Bold"/>
                <a:ea typeface="Open Sans Bold"/>
                <a:cs typeface="Open Sans Bold"/>
                <a:sym typeface="Open Sans Bold"/>
              </a:rPr>
              <a:t>redes </a:t>
            </a:r>
            <a:r>
              <a:rPr lang="en-US" b="1" dirty="0" err="1">
                <a:latin typeface="Open Sans Bold"/>
                <a:ea typeface="Open Sans Bold"/>
                <a:cs typeface="Open Sans Bold"/>
                <a:sym typeface="Open Sans Bold"/>
              </a:rPr>
              <a:t>planas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, cuatro </a:t>
            </a:r>
            <a:r>
              <a:rPr lang="en-US" b="1" dirty="0">
                <a:latin typeface="Open Sans Bold"/>
                <a:ea typeface="Open Sans Bold"/>
                <a:cs typeface="Open Sans Bold"/>
                <a:sym typeface="Open Sans Bold"/>
              </a:rPr>
              <a:t>redes </a:t>
            </a:r>
            <a:r>
              <a:rPr lang="en-US" b="1" dirty="0" err="1">
                <a:latin typeface="Open Sans Bold"/>
                <a:ea typeface="Open Sans Bold"/>
                <a:cs typeface="Open Sans Bold"/>
                <a:sym typeface="Open Sans Bold"/>
              </a:rPr>
              <a:t>primitivas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dirty="0">
                <a:latin typeface="Open Sans Bold"/>
                <a:ea typeface="Open Sans Bold"/>
                <a:cs typeface="Open Sans Bold"/>
                <a:sym typeface="Open Sans Bold"/>
              </a:rPr>
              <a:t>red </a:t>
            </a:r>
            <a:r>
              <a:rPr lang="en-US" b="1" dirty="0" err="1">
                <a:latin typeface="Open Sans Bold"/>
                <a:ea typeface="Open Sans Bold"/>
                <a:cs typeface="Open Sans Bold"/>
                <a:sym typeface="Open Sans Bold"/>
              </a:rPr>
              <a:t>centrada</a:t>
            </a:r>
            <a:r>
              <a:rPr lang="en-US" b="1" dirty="0">
                <a:latin typeface="Open Sans Bold"/>
                <a:ea typeface="Open Sans Bold"/>
                <a:cs typeface="Open Sans Bold"/>
                <a:sym typeface="Open Sans Bold"/>
              </a:rPr>
              <a:t>/multiple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. Las redes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primitivas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son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oblicuas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cuadradas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rectangulares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hexagonales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. La red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centrada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es la red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ortorrómbica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equivalente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a la red rectangular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centrada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endParaRPr lang="es-CL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AE178B3C-6A43-DFB4-16E8-0D510C348E6C}"/>
              </a:ext>
            </a:extLst>
          </p:cNvPr>
          <p:cNvSpPr/>
          <p:nvPr/>
        </p:nvSpPr>
        <p:spPr>
          <a:xfrm>
            <a:off x="611560" y="4595882"/>
            <a:ext cx="7920880" cy="1698485"/>
          </a:xfrm>
          <a:custGeom>
            <a:avLst/>
            <a:gdLst/>
            <a:ahLst/>
            <a:cxnLst/>
            <a:rect l="l" t="t" r="r" b="b"/>
            <a:pathLst>
              <a:path w="16230600" h="3144679">
                <a:moveTo>
                  <a:pt x="0" y="0"/>
                </a:moveTo>
                <a:lnTo>
                  <a:pt x="16230600" y="0"/>
                </a:lnTo>
                <a:lnTo>
                  <a:pt x="16230600" y="3144679"/>
                </a:lnTo>
                <a:lnTo>
                  <a:pt x="0" y="3144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5655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2A32-AD2A-C7BC-0835-8D7F932A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C9F2-101E-65FD-4217-951280BB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7056015" cy="508000"/>
          </a:xfrm>
        </p:spPr>
        <p:txBody>
          <a:bodyPr/>
          <a:lstStyle/>
          <a:p>
            <a:r>
              <a:rPr lang="es-CL" dirty="0"/>
              <a:t>Redes planas y parámetros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1A5924-7702-6FAF-234E-DB16B1E2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6695975" cy="508000"/>
          </a:xfrm>
        </p:spPr>
        <p:txBody>
          <a:bodyPr/>
          <a:lstStyle/>
          <a:p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Red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Oblicua</a:t>
            </a:r>
            <a:endParaRPr lang="en-US" dirty="0">
              <a:latin typeface="Open Sans"/>
              <a:ea typeface="Open Sans"/>
              <a:cs typeface="Open Sans"/>
              <a:sym typeface="Open Sans"/>
            </a:endParaRPr>
          </a:p>
          <a:p>
            <a:endParaRPr lang="es-CL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815D656-B645-C2FD-6FB8-295F047FB298}"/>
              </a:ext>
            </a:extLst>
          </p:cNvPr>
          <p:cNvSpPr/>
          <p:nvPr/>
        </p:nvSpPr>
        <p:spPr>
          <a:xfrm>
            <a:off x="886400" y="2852936"/>
            <a:ext cx="7502024" cy="3024336"/>
          </a:xfrm>
          <a:custGeom>
            <a:avLst/>
            <a:gdLst/>
            <a:ahLst/>
            <a:cxnLst/>
            <a:rect l="l" t="t" r="r" b="b"/>
            <a:pathLst>
              <a:path w="13896326" h="5558531">
                <a:moveTo>
                  <a:pt x="0" y="0"/>
                </a:moveTo>
                <a:lnTo>
                  <a:pt x="13896326" y="0"/>
                </a:lnTo>
                <a:lnTo>
                  <a:pt x="13896326" y="5558530"/>
                </a:lnTo>
                <a:lnTo>
                  <a:pt x="0" y="5558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652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850B-29AA-A0F0-5BB6-49DECB85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182E1-7856-6E1E-0830-3F0A1F70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7056015" cy="508000"/>
          </a:xfrm>
        </p:spPr>
        <p:txBody>
          <a:bodyPr/>
          <a:lstStyle/>
          <a:p>
            <a:r>
              <a:rPr lang="es-CL" dirty="0"/>
              <a:t>Redes planas y parámetros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52052-F85E-648F-C545-32DBF3DA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6695975" cy="508000"/>
          </a:xfrm>
        </p:spPr>
        <p:txBody>
          <a:bodyPr/>
          <a:lstStyle/>
          <a:p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Red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Cuadrada</a:t>
            </a:r>
            <a:endParaRPr lang="en-US" dirty="0">
              <a:latin typeface="Open Sans"/>
              <a:ea typeface="Open Sans"/>
              <a:cs typeface="Open Sans"/>
              <a:sym typeface="Open Sans"/>
            </a:endParaRPr>
          </a:p>
          <a:p>
            <a:endParaRPr lang="es-CL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9C51A7CB-94D6-EEB7-7E9C-E814E3AFA0C0}"/>
              </a:ext>
            </a:extLst>
          </p:cNvPr>
          <p:cNvSpPr/>
          <p:nvPr/>
        </p:nvSpPr>
        <p:spPr>
          <a:xfrm>
            <a:off x="611560" y="2924944"/>
            <a:ext cx="8136135" cy="3168352"/>
          </a:xfrm>
          <a:custGeom>
            <a:avLst/>
            <a:gdLst/>
            <a:ahLst/>
            <a:cxnLst/>
            <a:rect l="l" t="t" r="r" b="b"/>
            <a:pathLst>
              <a:path w="13196648" h="5549259">
                <a:moveTo>
                  <a:pt x="0" y="0"/>
                </a:moveTo>
                <a:lnTo>
                  <a:pt x="13196648" y="0"/>
                </a:lnTo>
                <a:lnTo>
                  <a:pt x="13196648" y="5549259"/>
                </a:lnTo>
                <a:lnTo>
                  <a:pt x="0" y="5549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654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56D8-5A2A-D86D-EA15-986E6AE7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24651-FB30-4A13-8FA5-DEEC2C24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7056015" cy="508000"/>
          </a:xfrm>
        </p:spPr>
        <p:txBody>
          <a:bodyPr/>
          <a:lstStyle/>
          <a:p>
            <a:r>
              <a:rPr lang="es-CL" dirty="0"/>
              <a:t>Redes planas y parámetros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5D4A1-6D0F-F159-A55F-4E09D64C3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6695975" cy="508000"/>
          </a:xfrm>
        </p:spPr>
        <p:txBody>
          <a:bodyPr/>
          <a:lstStyle/>
          <a:p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Red Rectangular</a:t>
            </a:r>
          </a:p>
          <a:p>
            <a:endParaRPr lang="es-CL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9CA809B-69C5-B928-0EA3-517B546ACEA8}"/>
              </a:ext>
            </a:extLst>
          </p:cNvPr>
          <p:cNvSpPr/>
          <p:nvPr/>
        </p:nvSpPr>
        <p:spPr>
          <a:xfrm>
            <a:off x="169175" y="2780928"/>
            <a:ext cx="8723306" cy="2664197"/>
          </a:xfrm>
          <a:custGeom>
            <a:avLst/>
            <a:gdLst/>
            <a:ahLst/>
            <a:cxnLst/>
            <a:rect l="l" t="t" r="r" b="b"/>
            <a:pathLst>
              <a:path w="15092038" h="5023303">
                <a:moveTo>
                  <a:pt x="0" y="0"/>
                </a:moveTo>
                <a:lnTo>
                  <a:pt x="15092038" y="0"/>
                </a:lnTo>
                <a:lnTo>
                  <a:pt x="15092038" y="5023303"/>
                </a:lnTo>
                <a:lnTo>
                  <a:pt x="0" y="5023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965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0929-36AC-CFCD-DA42-DA3F95AF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6E623-EA6C-6A17-876E-20838018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7056015" cy="508000"/>
          </a:xfrm>
        </p:spPr>
        <p:txBody>
          <a:bodyPr/>
          <a:lstStyle/>
          <a:p>
            <a:r>
              <a:rPr lang="es-CL" dirty="0"/>
              <a:t>Redes planas y parámetros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AA7C4A-87B4-20CE-525B-605C2413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6695975" cy="508000"/>
          </a:xfrm>
        </p:spPr>
        <p:txBody>
          <a:bodyPr/>
          <a:lstStyle/>
          <a:p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Red Hexagonal</a:t>
            </a:r>
          </a:p>
          <a:p>
            <a:endParaRPr lang="es-CL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27D489DB-B868-662C-FF4E-8212E38221B0}"/>
              </a:ext>
            </a:extLst>
          </p:cNvPr>
          <p:cNvSpPr/>
          <p:nvPr/>
        </p:nvSpPr>
        <p:spPr>
          <a:xfrm>
            <a:off x="186229" y="2996952"/>
            <a:ext cx="8634243" cy="3024336"/>
          </a:xfrm>
          <a:custGeom>
            <a:avLst/>
            <a:gdLst/>
            <a:ahLst/>
            <a:cxnLst/>
            <a:rect l="l" t="t" r="r" b="b"/>
            <a:pathLst>
              <a:path w="14735786" h="5915826">
                <a:moveTo>
                  <a:pt x="0" y="0"/>
                </a:moveTo>
                <a:lnTo>
                  <a:pt x="14735786" y="0"/>
                </a:lnTo>
                <a:lnTo>
                  <a:pt x="14735786" y="5915827"/>
                </a:lnTo>
                <a:lnTo>
                  <a:pt x="0" y="5915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85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1806-4D6C-9354-C5D7-16B312BE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70476-2E54-3D13-A361-20A59F28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7056015" cy="508000"/>
          </a:xfrm>
        </p:spPr>
        <p:txBody>
          <a:bodyPr/>
          <a:lstStyle/>
          <a:p>
            <a:r>
              <a:rPr lang="es-CL" dirty="0"/>
              <a:t>Redes planas y parámetros de red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223876-09AC-0863-623D-3FB876E1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989138"/>
            <a:ext cx="6695975" cy="508000"/>
          </a:xfrm>
        </p:spPr>
        <p:txBody>
          <a:bodyPr/>
          <a:lstStyle/>
          <a:p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Red rectangular 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centrada</a:t>
            </a:r>
            <a:endParaRPr lang="en-US" dirty="0">
              <a:latin typeface="Open Sans"/>
              <a:ea typeface="Open Sans"/>
              <a:cs typeface="Open Sans"/>
              <a:sym typeface="Open Sans"/>
            </a:endParaRPr>
          </a:p>
          <a:p>
            <a:endParaRPr lang="es-CL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829AE1C-40D9-011B-A696-621488445636}"/>
              </a:ext>
            </a:extLst>
          </p:cNvPr>
          <p:cNvSpPr/>
          <p:nvPr/>
        </p:nvSpPr>
        <p:spPr>
          <a:xfrm>
            <a:off x="468313" y="2780928"/>
            <a:ext cx="7837919" cy="3311871"/>
          </a:xfrm>
          <a:custGeom>
            <a:avLst/>
            <a:gdLst/>
            <a:ahLst/>
            <a:cxnLst/>
            <a:rect l="l" t="t" r="r" b="b"/>
            <a:pathLst>
              <a:path w="13739060" h="6537620">
                <a:moveTo>
                  <a:pt x="0" y="0"/>
                </a:moveTo>
                <a:lnTo>
                  <a:pt x="13739060" y="0"/>
                </a:lnTo>
                <a:lnTo>
                  <a:pt x="13739060" y="6537620"/>
                </a:lnTo>
                <a:lnTo>
                  <a:pt x="0" y="6537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580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1CB4-C351-C997-E5CF-14C37E5B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CAFDB-88DF-0793-265E-BB912633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/>
              <a:t>Ejes cristalográficos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9061BA8-9131-7638-B795-D46B1C113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5901" y="1989138"/>
            <a:ext cx="5056435" cy="4464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436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5727-F10E-9E5D-2A1F-2D766A9C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AA34F-0C7E-EF7F-39D3-F9D4130A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Índices de Miller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DF2967-943E-6D74-D9E5-69704E9FAE54}"/>
              </a:ext>
            </a:extLst>
          </p:cNvPr>
          <p:cNvSpPr txBox="1"/>
          <p:nvPr/>
        </p:nvSpPr>
        <p:spPr bwMode="auto">
          <a:xfrm>
            <a:off x="468313" y="1989138"/>
            <a:ext cx="3198812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>
                <a:solidFill>
                  <a:schemeClr val="bg2"/>
                </a:solidFill>
                <a:latin typeface="+mn-lt"/>
              </a:rPr>
              <a:t>Se utiliza para ubicar caras cristalinas en el espacio, intersectando las caras con los ejes cristalográficos (a, b y c).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>
              <a:solidFill>
                <a:schemeClr val="bg2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>
                <a:solidFill>
                  <a:schemeClr val="bg2"/>
                </a:solidFill>
                <a:latin typeface="+mn-lt"/>
              </a:rPr>
              <a:t>Los que se obtienen calculando las intersecciones (h,k,l) o numero de traslaciones, con los tres ejes fundamentales del cristal. Posteriormente se invierten y se eliminan denominadores.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9922D-9631-14F1-6B97-09FEB62F1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9525" y="2660968"/>
            <a:ext cx="3200400" cy="312039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61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F71E-C024-CADF-5106-85B5A87A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E635A-53A9-2999-3FEE-DD77BF7D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Índices de Miller y Weiss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5DADD5-2DA2-7E01-423A-4D717DEA2D71}"/>
              </a:ext>
            </a:extLst>
          </p:cNvPr>
          <p:cNvSpPr txBox="1"/>
          <p:nvPr/>
        </p:nvSpPr>
        <p:spPr bwMode="auto">
          <a:xfrm>
            <a:off x="468312" y="1989138"/>
            <a:ext cx="4679752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CL" dirty="0">
                <a:solidFill>
                  <a:schemeClr val="bg2"/>
                </a:solidFill>
              </a:rPr>
              <a:t>El plano ABD corta a los ejes en 2, 2 y 4.</a:t>
            </a:r>
          </a:p>
          <a:p>
            <a:endParaRPr lang="es-CL" dirty="0">
              <a:solidFill>
                <a:schemeClr val="bg2"/>
              </a:solidFill>
            </a:endParaRPr>
          </a:p>
          <a:p>
            <a:r>
              <a:rPr lang="es-CL" dirty="0">
                <a:solidFill>
                  <a:schemeClr val="bg2"/>
                </a:solidFill>
              </a:rPr>
              <a:t>Luego se invierten los valores y se eliminan las fracciones.</a:t>
            </a:r>
          </a:p>
          <a:p>
            <a:endParaRPr lang="es-CL" dirty="0">
              <a:solidFill>
                <a:schemeClr val="bg2"/>
              </a:solidFill>
            </a:endParaRPr>
          </a:p>
          <a:p>
            <a:r>
              <a:rPr lang="es-CL" dirty="0" err="1">
                <a:solidFill>
                  <a:schemeClr val="bg2"/>
                </a:solidFill>
              </a:rPr>
              <a:t>Inversion</a:t>
            </a:r>
            <a:r>
              <a:rPr lang="es-CL" dirty="0">
                <a:solidFill>
                  <a:schemeClr val="bg2"/>
                </a:solidFill>
              </a:rPr>
              <a:t>:</a:t>
            </a:r>
          </a:p>
          <a:p>
            <a:r>
              <a:rPr lang="es-CL" dirty="0">
                <a:solidFill>
                  <a:schemeClr val="bg2"/>
                </a:solidFill>
              </a:rPr>
              <a:t>1/2, 1/2, 1/4</a:t>
            </a:r>
          </a:p>
          <a:p>
            <a:endParaRPr lang="es-CL" dirty="0">
              <a:solidFill>
                <a:schemeClr val="bg2"/>
              </a:solidFill>
            </a:endParaRPr>
          </a:p>
          <a:p>
            <a:r>
              <a:rPr lang="es-CL" dirty="0">
                <a:solidFill>
                  <a:schemeClr val="bg2"/>
                </a:solidFill>
              </a:rPr>
              <a:t>Se amplifica por 4 (o un valor que permita dejar </a:t>
            </a:r>
            <a:r>
              <a:rPr lang="es-CL" dirty="0" err="1">
                <a:solidFill>
                  <a:schemeClr val="bg2"/>
                </a:solidFill>
              </a:rPr>
              <a:t>numeros</a:t>
            </a:r>
            <a:r>
              <a:rPr lang="es-CL" dirty="0">
                <a:solidFill>
                  <a:schemeClr val="bg2"/>
                </a:solidFill>
              </a:rPr>
              <a:t> enteros)</a:t>
            </a:r>
          </a:p>
          <a:p>
            <a:endParaRPr lang="es-CL" dirty="0">
              <a:solidFill>
                <a:schemeClr val="bg2"/>
              </a:solidFill>
            </a:endParaRPr>
          </a:p>
          <a:p>
            <a:r>
              <a:rPr lang="es-CL" dirty="0" err="1">
                <a:solidFill>
                  <a:schemeClr val="bg2"/>
                </a:solidFill>
              </a:rPr>
              <a:t>Indices</a:t>
            </a:r>
            <a:r>
              <a:rPr lang="es-CL" dirty="0">
                <a:solidFill>
                  <a:schemeClr val="bg2"/>
                </a:solidFill>
              </a:rPr>
              <a:t> de Miller: (221)</a:t>
            </a:r>
            <a:endParaRPr lang="en-US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12F07CC-18DA-6899-B0A4-5AB8DCBFC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2080" y="2662126"/>
            <a:ext cx="3200400" cy="311807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69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53E2-C30C-F827-DDD8-96748C50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8C9E4-BD45-7FEB-D8B1-A2032CF8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Elementos de simetría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223543-19B3-5B0E-5690-B7F9EE7D991C}"/>
              </a:ext>
            </a:extLst>
          </p:cNvPr>
          <p:cNvSpPr txBox="1"/>
          <p:nvPr/>
        </p:nvSpPr>
        <p:spPr bwMode="auto">
          <a:xfrm>
            <a:off x="468313" y="1989138"/>
            <a:ext cx="3198812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>
                <a:solidFill>
                  <a:schemeClr val="bg2"/>
                </a:solidFill>
                <a:latin typeface="+mn-lt"/>
              </a:rPr>
              <a:t>Los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elementos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los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cristales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son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direcciones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particulares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, que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cumplen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condiciones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determinados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por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la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disposición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los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átomos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dentro de la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estructura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cristalina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sz="1500" dirty="0">
              <a:solidFill>
                <a:schemeClr val="bg2"/>
              </a:solidFill>
              <a:latin typeface="+mn-lt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>
                <a:solidFill>
                  <a:schemeClr val="bg2"/>
                </a:solidFill>
                <a:latin typeface="+mn-lt"/>
              </a:rPr>
              <a:t>Las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operaciones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se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pueden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clasificar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como: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Traslación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(Vector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traslación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Rotación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(Eje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Reflexión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    (Plano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 err="1">
                <a:solidFill>
                  <a:schemeClr val="bg2"/>
                </a:solidFill>
                <a:latin typeface="+mn-lt"/>
              </a:rPr>
              <a:t>Inversión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    (Centro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A348B-807F-03EA-8C0D-A62A2E9A3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9844" y="2924944"/>
            <a:ext cx="5026974" cy="266429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026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F323-751F-476B-C534-261B1A9E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22EAE-A6AB-00F5-76E4-4640718B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Elementos de simetría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A823B1-E278-6DB1-B4D7-A7AFAF181478}"/>
              </a:ext>
            </a:extLst>
          </p:cNvPr>
          <p:cNvSpPr txBox="1"/>
          <p:nvPr/>
        </p:nvSpPr>
        <p:spPr bwMode="auto">
          <a:xfrm>
            <a:off x="468313" y="1989138"/>
            <a:ext cx="3198812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>
                <a:solidFill>
                  <a:schemeClr val="bg2"/>
                </a:solidFill>
                <a:latin typeface="+mn-lt"/>
              </a:rPr>
              <a:t>Los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elementos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los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cristales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son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direcciones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particulares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, que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cumplen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condiciones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determinados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por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la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disposición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los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átomos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dentro de la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estructura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cristalina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sz="1500" dirty="0">
              <a:solidFill>
                <a:schemeClr val="bg2"/>
              </a:solidFill>
              <a:latin typeface="+mn-lt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>
                <a:solidFill>
                  <a:schemeClr val="bg2"/>
                </a:solidFill>
                <a:latin typeface="+mn-lt"/>
              </a:rPr>
              <a:t>Las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operaciones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se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pueden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clasificar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como: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Traslación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(Vector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traslación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Rotación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(Eje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  <a:br>
              <a:rPr lang="en-US" sz="1500" dirty="0">
                <a:solidFill>
                  <a:schemeClr val="bg2"/>
                </a:solidFill>
                <a:latin typeface="+mn-lt"/>
              </a:rPr>
            </a:br>
            <a:r>
              <a:rPr lang="en-US" sz="1500" dirty="0" err="1">
                <a:solidFill>
                  <a:schemeClr val="bg2"/>
                </a:solidFill>
                <a:latin typeface="+mn-lt"/>
              </a:rPr>
              <a:t>Reflexión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    (Plano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1500" dirty="0" err="1">
                <a:solidFill>
                  <a:schemeClr val="bg2"/>
                </a:solidFill>
                <a:latin typeface="+mn-lt"/>
              </a:rPr>
              <a:t>Inversión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     (Centro de </a:t>
            </a:r>
            <a:r>
              <a:rPr lang="en-US" sz="1500" dirty="0" err="1">
                <a:solidFill>
                  <a:schemeClr val="bg2"/>
                </a:solidFill>
                <a:latin typeface="+mn-lt"/>
              </a:rPr>
              <a:t>simetría</a:t>
            </a:r>
            <a:r>
              <a:rPr lang="en-US" sz="1500" dirty="0">
                <a:solidFill>
                  <a:schemeClr val="bg2"/>
                </a:solidFill>
                <a:latin typeface="+mn-lt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B45C0-102A-E5FB-3B4C-2F1F94F5D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9844" y="2924944"/>
            <a:ext cx="5026974" cy="266429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2221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716A-7DE3-86B7-B240-73105D6EC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5CE52-0CF8-95F8-DE8B-48588E1A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Elementos de simetría (Rotación)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0546D4-140B-C946-4B18-255A44DA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04864"/>
            <a:ext cx="5874220" cy="4134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093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986F-189B-A05B-6495-10E4C188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45825-905A-39DF-4ADB-AD2CDC55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Elementos de simetría (Reflexión)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D90FD36-31AF-0FC2-205C-8DD6130C6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132856"/>
            <a:ext cx="3600400" cy="4219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110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BD27-138A-6DB5-6D71-AB116937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49AEC-34B8-E1F8-C90C-B325AFF5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000" dirty="0"/>
              <a:t>Elementos de simetría (Inversión)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8FB361-3659-9270-9071-D0A182469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636912"/>
            <a:ext cx="4079409" cy="33076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67753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C547-C785-523A-F07A-EAA7832F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A3857-9969-9EB8-FFD6-CA852147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412875"/>
            <a:ext cx="6048375" cy="508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s-CL" sz="2200"/>
              <a:t>Elementos de simetría (Reflexión + Traslación)</a:t>
            </a:r>
          </a:p>
        </p:txBody>
      </p:sp>
      <p:pic>
        <p:nvPicPr>
          <p:cNvPr id="3" name="Shape 10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3323168-5FFC-A6B9-EC7C-D80F59A5DF64}"/>
              </a:ext>
            </a:extLst>
          </p:cNvPr>
          <p:cNvPicPr preferRelativeResize="0"/>
          <p:nvPr/>
        </p:nvPicPr>
        <p:blipFill rotWithShape="1">
          <a:blip r:embed="rId2"/>
          <a:srcRect l="35585" t="36309" r="17673" b="19444"/>
          <a:stretch/>
        </p:blipFill>
        <p:spPr>
          <a:xfrm>
            <a:off x="468313" y="2476880"/>
            <a:ext cx="6551612" cy="34885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877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plate">
  <a:themeElements>
    <a:clrScheme name="template 15">
      <a:dk1>
        <a:srgbClr val="4D4D4D"/>
      </a:dk1>
      <a:lt1>
        <a:srgbClr val="FFFFFF"/>
      </a:lt1>
      <a:dk2>
        <a:srgbClr val="4D4D4D"/>
      </a:dk2>
      <a:lt2>
        <a:srgbClr val="1F1111"/>
      </a:lt2>
      <a:accent1>
        <a:srgbClr val="393939"/>
      </a:accent1>
      <a:accent2>
        <a:srgbClr val="727272"/>
      </a:accent2>
      <a:accent3>
        <a:srgbClr val="FFFFFF"/>
      </a:accent3>
      <a:accent4>
        <a:srgbClr val="404040"/>
      </a:accent4>
      <a:accent5>
        <a:srgbClr val="AEAEAE"/>
      </a:accent5>
      <a:accent6>
        <a:srgbClr val="676767"/>
      </a:accent6>
      <a:hlink>
        <a:srgbClr val="D42424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11163C"/>
        </a:lt2>
        <a:accent1>
          <a:srgbClr val="212B53"/>
        </a:accent1>
        <a:accent2>
          <a:srgbClr val="364481"/>
        </a:accent2>
        <a:accent3>
          <a:srgbClr val="FFFFFF"/>
        </a:accent3>
        <a:accent4>
          <a:srgbClr val="404040"/>
        </a:accent4>
        <a:accent5>
          <a:srgbClr val="ABACB3"/>
        </a:accent5>
        <a:accent6>
          <a:srgbClr val="303D74"/>
        </a:accent6>
        <a:hlink>
          <a:srgbClr val="3E498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4D4D4D"/>
        </a:dk2>
        <a:lt2>
          <a:srgbClr val="0D254C"/>
        </a:lt2>
        <a:accent1>
          <a:srgbClr val="254B83"/>
        </a:accent1>
        <a:accent2>
          <a:srgbClr val="406DAA"/>
        </a:accent2>
        <a:accent3>
          <a:srgbClr val="FFFFFF"/>
        </a:accent3>
        <a:accent4>
          <a:srgbClr val="404040"/>
        </a:accent4>
        <a:accent5>
          <a:srgbClr val="ACB1C1"/>
        </a:accent5>
        <a:accent6>
          <a:srgbClr val="39629A"/>
        </a:accent6>
        <a:hlink>
          <a:srgbClr val="3267B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363B45"/>
        </a:lt2>
        <a:accent1>
          <a:srgbClr val="A99D9B"/>
        </a:accent1>
        <a:accent2>
          <a:srgbClr val="565A66"/>
        </a:accent2>
        <a:accent3>
          <a:srgbClr val="FFFFFF"/>
        </a:accent3>
        <a:accent4>
          <a:srgbClr val="404040"/>
        </a:accent4>
        <a:accent5>
          <a:srgbClr val="D1CCCB"/>
        </a:accent5>
        <a:accent6>
          <a:srgbClr val="4D515C"/>
        </a:accent6>
        <a:hlink>
          <a:srgbClr val="92715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B26920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D5B9AB"/>
        </a:accent5>
        <a:accent6>
          <a:srgbClr val="64727F"/>
        </a:accent6>
        <a:hlink>
          <a:srgbClr val="EEC72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2E3236"/>
        </a:lt2>
        <a:accent1>
          <a:srgbClr val="9BB6EE"/>
        </a:accent1>
        <a:accent2>
          <a:srgbClr val="6F7F8D"/>
        </a:accent2>
        <a:accent3>
          <a:srgbClr val="FFFFFF"/>
        </a:accent3>
        <a:accent4>
          <a:srgbClr val="404040"/>
        </a:accent4>
        <a:accent5>
          <a:srgbClr val="CBD7F5"/>
        </a:accent5>
        <a:accent6>
          <a:srgbClr val="64727F"/>
        </a:accent6>
        <a:hlink>
          <a:srgbClr val="84AAF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40494F"/>
        </a:lt2>
        <a:accent1>
          <a:srgbClr val="6D7D8A"/>
        </a:accent1>
        <a:accent2>
          <a:srgbClr val="A7A7A7"/>
        </a:accent2>
        <a:accent3>
          <a:srgbClr val="FFFFFF"/>
        </a:accent3>
        <a:accent4>
          <a:srgbClr val="404040"/>
        </a:accent4>
        <a:accent5>
          <a:srgbClr val="BABFC4"/>
        </a:accent5>
        <a:accent6>
          <a:srgbClr val="979797"/>
        </a:accent6>
        <a:hlink>
          <a:srgbClr val="7F7F7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4D4D4D"/>
        </a:dk2>
        <a:lt2>
          <a:srgbClr val="454D52"/>
        </a:lt2>
        <a:accent1>
          <a:srgbClr val="7D8B97"/>
        </a:accent1>
        <a:accent2>
          <a:srgbClr val="CBCBCB"/>
        </a:accent2>
        <a:accent3>
          <a:srgbClr val="FFFFFF"/>
        </a:accent3>
        <a:accent4>
          <a:srgbClr val="404040"/>
        </a:accent4>
        <a:accent5>
          <a:srgbClr val="BFC4C9"/>
        </a:accent5>
        <a:accent6>
          <a:srgbClr val="B8B8B8"/>
        </a:accent6>
        <a:hlink>
          <a:srgbClr val="5158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4D4D4D"/>
        </a:dk2>
        <a:lt2>
          <a:srgbClr val="393939"/>
        </a:lt2>
        <a:accent1>
          <a:srgbClr val="858585"/>
        </a:accent1>
        <a:accent2>
          <a:srgbClr val="939393"/>
        </a:accent2>
        <a:accent3>
          <a:srgbClr val="FFFFFF"/>
        </a:accent3>
        <a:accent4>
          <a:srgbClr val="404040"/>
        </a:accent4>
        <a:accent5>
          <a:srgbClr val="C2C2C2"/>
        </a:accent5>
        <a:accent6>
          <a:srgbClr val="858585"/>
        </a:accent6>
        <a:hlink>
          <a:srgbClr val="6969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4D4D4D"/>
        </a:dk2>
        <a:lt2>
          <a:srgbClr val="4F5056"/>
        </a:lt2>
        <a:accent1>
          <a:srgbClr val="7E7F8E"/>
        </a:accent1>
        <a:accent2>
          <a:srgbClr val="C0C1C5"/>
        </a:accent2>
        <a:accent3>
          <a:srgbClr val="FFFFFF"/>
        </a:accent3>
        <a:accent4>
          <a:srgbClr val="404040"/>
        </a:accent4>
        <a:accent5>
          <a:srgbClr val="C0C0C6"/>
        </a:accent5>
        <a:accent6>
          <a:srgbClr val="AEAFB2"/>
        </a:accent6>
        <a:hlink>
          <a:srgbClr val="ACAFB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4D4D4D"/>
        </a:dk2>
        <a:lt2>
          <a:srgbClr val="85978F"/>
        </a:lt2>
        <a:accent1>
          <a:srgbClr val="9DA499"/>
        </a:accent1>
        <a:accent2>
          <a:srgbClr val="A5B9BA"/>
        </a:accent2>
        <a:accent3>
          <a:srgbClr val="FFFFFF"/>
        </a:accent3>
        <a:accent4>
          <a:srgbClr val="404040"/>
        </a:accent4>
        <a:accent5>
          <a:srgbClr val="CCCFCA"/>
        </a:accent5>
        <a:accent6>
          <a:srgbClr val="95A7A8"/>
        </a:accent6>
        <a:hlink>
          <a:srgbClr val="ABB4A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4D4D4D"/>
        </a:dk2>
        <a:lt2>
          <a:srgbClr val="484847"/>
        </a:lt2>
        <a:accent1>
          <a:srgbClr val="7C7C74"/>
        </a:accent1>
        <a:accent2>
          <a:srgbClr val="AFB2AA"/>
        </a:accent2>
        <a:accent3>
          <a:srgbClr val="FFFFFF"/>
        </a:accent3>
        <a:accent4>
          <a:srgbClr val="404040"/>
        </a:accent4>
        <a:accent5>
          <a:srgbClr val="BFBFBC"/>
        </a:accent5>
        <a:accent6>
          <a:srgbClr val="9EA19A"/>
        </a:accent6>
        <a:hlink>
          <a:srgbClr val="D4D2C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4D4D4D"/>
        </a:dk2>
        <a:lt2>
          <a:srgbClr val="18191C"/>
        </a:lt2>
        <a:accent1>
          <a:srgbClr val="1F2229"/>
        </a:accent1>
        <a:accent2>
          <a:srgbClr val="3B4A61"/>
        </a:accent2>
        <a:accent3>
          <a:srgbClr val="FFFFFF"/>
        </a:accent3>
        <a:accent4>
          <a:srgbClr val="404040"/>
        </a:accent4>
        <a:accent5>
          <a:srgbClr val="ABABAC"/>
        </a:accent5>
        <a:accent6>
          <a:srgbClr val="354257"/>
        </a:accent6>
        <a:hlink>
          <a:srgbClr val="718CA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4D4D4D"/>
        </a:dk2>
        <a:lt2>
          <a:srgbClr val="3E3B55"/>
        </a:lt2>
        <a:accent1>
          <a:srgbClr val="8D8DC2"/>
        </a:accent1>
        <a:accent2>
          <a:srgbClr val="777777"/>
        </a:accent2>
        <a:accent3>
          <a:srgbClr val="FFFFFF"/>
        </a:accent3>
        <a:accent4>
          <a:srgbClr val="404040"/>
        </a:accent4>
        <a:accent5>
          <a:srgbClr val="C5C5DD"/>
        </a:accent5>
        <a:accent6>
          <a:srgbClr val="6B6B6B"/>
        </a:accent6>
        <a:hlink>
          <a:srgbClr val="C0C0C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4">
        <a:dk1>
          <a:srgbClr val="4D4D4D"/>
        </a:dk1>
        <a:lt1>
          <a:srgbClr val="FFFFFF"/>
        </a:lt1>
        <a:dk2>
          <a:srgbClr val="4D4D4D"/>
        </a:dk2>
        <a:lt2>
          <a:srgbClr val="26231E"/>
        </a:lt2>
        <a:accent1>
          <a:srgbClr val="D69F8C"/>
        </a:accent1>
        <a:accent2>
          <a:srgbClr val="AD8D82"/>
        </a:accent2>
        <a:accent3>
          <a:srgbClr val="FFFFFF"/>
        </a:accent3>
        <a:accent4>
          <a:srgbClr val="404040"/>
        </a:accent4>
        <a:accent5>
          <a:srgbClr val="E8CDC5"/>
        </a:accent5>
        <a:accent6>
          <a:srgbClr val="9C7F75"/>
        </a:accent6>
        <a:hlink>
          <a:srgbClr val="676068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5">
        <a:dk1>
          <a:srgbClr val="4D4D4D"/>
        </a:dk1>
        <a:lt1>
          <a:srgbClr val="FFFFFF"/>
        </a:lt1>
        <a:dk2>
          <a:srgbClr val="4D4D4D"/>
        </a:dk2>
        <a:lt2>
          <a:srgbClr val="1F1111"/>
        </a:lt2>
        <a:accent1>
          <a:srgbClr val="393939"/>
        </a:accent1>
        <a:accent2>
          <a:srgbClr val="727272"/>
        </a:accent2>
        <a:accent3>
          <a:srgbClr val="FFFFFF"/>
        </a:accent3>
        <a:accent4>
          <a:srgbClr val="404040"/>
        </a:accent4>
        <a:accent5>
          <a:srgbClr val="AEAEAE"/>
        </a:accent5>
        <a:accent6>
          <a:srgbClr val="676767"/>
        </a:accent6>
        <a:hlink>
          <a:srgbClr val="D4242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Lab2</Template>
  <TotalTime>309</TotalTime>
  <Words>409</Words>
  <Application>Microsoft Office PowerPoint</Application>
  <PresentationFormat>Presentación en pantalla (4:3)</PresentationFormat>
  <Paragraphs>55</Paragraphs>
  <Slides>24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Open Sans</vt:lpstr>
      <vt:lpstr>Open Sans Bold</vt:lpstr>
      <vt:lpstr>template</vt:lpstr>
      <vt:lpstr>Mineralogía y Cristalografía MF – SL – FM – RM - SV </vt:lpstr>
      <vt:lpstr>Red cristalina</vt:lpstr>
      <vt:lpstr>Red cristalina</vt:lpstr>
      <vt:lpstr>Traslación</vt:lpstr>
      <vt:lpstr>Traslación</vt:lpstr>
      <vt:lpstr>Traslación</vt:lpstr>
      <vt:lpstr>Traslación</vt:lpstr>
      <vt:lpstr>Traslación</vt:lpstr>
      <vt:lpstr>Traslación</vt:lpstr>
      <vt:lpstr>Redes planas</vt:lpstr>
      <vt:lpstr>Redes planas y parámetros de red</vt:lpstr>
      <vt:lpstr>Redes planas y parámetros de red</vt:lpstr>
      <vt:lpstr>Redes planas y parámetros de red</vt:lpstr>
      <vt:lpstr>Redes planas y parámetros de red</vt:lpstr>
      <vt:lpstr>Redes planas y parámetros de red</vt:lpstr>
      <vt:lpstr>Ejes cristalográficos</vt:lpstr>
      <vt:lpstr>Índices de Miller</vt:lpstr>
      <vt:lpstr>Índices de Miller y Weiss</vt:lpstr>
      <vt:lpstr>Elementos de simetría</vt:lpstr>
      <vt:lpstr>Elementos de simetría</vt:lpstr>
      <vt:lpstr>Elementos de simetría (Rotación)</vt:lpstr>
      <vt:lpstr>Elementos de simetría (Reflexión)</vt:lpstr>
      <vt:lpstr>Elementos de simetría (Inversión)</vt:lpstr>
      <vt:lpstr>Elementos de simetría (Reflexión + Traslación)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Mineralogía y Cristalografía MF – SL – FM – RM - SV </dc:title>
  <dc:creator>FUENTES SOTO MATÍAS E</dc:creator>
  <cp:lastModifiedBy>asus</cp:lastModifiedBy>
  <cp:revision>5</cp:revision>
  <dcterms:created xsi:type="dcterms:W3CDTF">2025-08-27T16:00:08Z</dcterms:created>
  <dcterms:modified xsi:type="dcterms:W3CDTF">2026-08-13T02:47:24Z</dcterms:modified>
</cp:coreProperties>
</file>